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connects your existing knowledge of digital logic from Logic System Design to Graphics Processing Units (GPUs). A GPU is essentially a specialized electronic chip designed to handle millions of calculations simultaneously. These calculations are performed using digital logic circuits, which you've already studied. Digital logic forms the foundation of all modern computing devices, using basic gates like AND, OR, and NOT to manipulate binary digits (0s and 1s). While a traditional CPU has a few complex cores optimized for sequential tasks, a GPU contains thousands of simpler cores that excel at parallel processing. Each core executes instructions using digital logic components like adders, multiplexers, and registers. Understanding this connection helps explain why GPUs are so effective at tasks like rendering graphics, machine learning, and scientific simulations. We'll explore how the digital logic concepts you've learned scale up to create these powerful processors.
Saved references:
LSD capsule notes — https://drive.google.com/drive/folders/1eygjFiKAq9eGpAfNQrhNveCqLGacq1rO?usp=drive_link
LSD notes folder — https://drive.google.com/drive/folders/10_1hkEaqMBwRvlM9mKYq_h5gR8K0AE3f?usp=drive_link
LSD textbook folder — https://drive.google.com/drive/folders/1nXYT11ddj_DaPKGF52OhLTZ4H3AnpJ6P?usp=drive_link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GPUs are designed around the concept of parallelism. Unlike CPUs that focus on low-latency single-threaded performance, GPUs achieve high throughput by processing many operations simultaneously. This is accomplished through a massively parallel architecture containing thousands of smaller, efficient cores. Each core contains arithmetic logic units (ALUs) built from digital logic circuits that perform operations like addition and multiplication. The SIMD (Single Instruction, Multiple Data) model means all cores execute the same operation but on different pieces of data. For example, when rendering a pixel shader, thousands of cores might simultaneously calculate color values for different pixels. The memory system is carefully designed with multiple levels: registers for immediate data, shared memory for communication between nearby cores, and global memory for large datasets. All coordination relies on digital control circuits that manage data flow and synchronization.
Saved references:
LSD notes folder — https://drive.google.com/drive/folders/10_1hkEaqMBwRvlM9mKYq_h5gR8K0AE3f?usp=drive_link
LSD textbook folder — https://drive.google.com/drive/folders/1nXYT11ddj_DaPKGF52OhLTZ4H3AnpJ6P?usp=drive_link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GPU core is constructed from fundamental digital logic components that you've studied in Logic System Design. The arithmetic logic unit (ALU) contains combinational circuits such as ripple-carry adders, barrel shifters, and multiplexers that perform mathematical operations. These are built entirely from basic logic gates. Registers within each core use flip-flops to store data temporarily during computation. A global clock signal, generated by timing circuits, ensures all operations happen in synchronized steps. The control unit, which directs data flow and operation sequencing, is typically implemented as a finite state machine using logic gates and flip-flops. When you combine thousands of these complete cores, each containing ALUs, registers, and control logic, you get the massive parallel processing power of a modern GPU. This demonstrates how basic digital design principles scale to create sophisticated computing systems.
Saved references:
LSD capsule notes — https://drive.google.com/drive/folders/1eygjFiKAq9eGpAfNQrhNveCqLGacq1rO?usp=drive_link
LSD notes folder — https://drive.google.com/drive/folders/10_1hkEaqMBwRvlM9mKYq_h5gR8K0AE3f?usp=drive_link
LSD textbook folder — https://drive.google.com/drive/folders/1nXYT11ddj_DaPKGF52OhLTZ4H3AnpJ6P?usp=drive_link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what we've covered. We started by connecting your digital logic knowledge to GPU architecture. GPUs are essentially vast collections of digital circuits scaled up to contain thousands of processing cores. Each core implements fundamental components like ALUs, registers, and control units using the same logic gates and flip-flops you've studied. The key innovation is parallelism through the SIMD model, allowing thousands of cores to process data simultaneously. The memory hierarchy and synchronization circuits ensure efficient data flow. This understanding is crucial for applications ranging from video game graphics to artificial intelligence training. By recognizing that GPUs are built from the same digital logic principles you've mastered, you can better appreciate both the hardware you use and the foundational concepts that make it possible. Your LSD knowledge directly applies to understanding modern computing systems.
Saved references:
LSD capsule notes — https://drive.google.com/drive/folders/1eygjFiKAq9eGpAfNQrhNveCqLGacq1rO?usp=drive_link
LSD notes folder — https://drive.google.com/drive/folders/10_1hkEaqMBwRvlM9mKYq_h5gR8K0AE3f?usp=drive_link
LSD textbook folder — https://drive.google.com/drive/folders/1nXYT11ddj_DaPKGF52OhLTZ4H3AnpJ6P?usp=drive_link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623"/>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07B39"/>
          </a:solidFill>
          <a:ln w="12700">
            <a:solidFill>
              <a:srgbClr val="E07B39"/>
            </a:solidFill>
            <a:prstDash val="solid"/>
          </a:ln>
        </p:spPr>
      </p:sp>
      <p:sp>
        <p:nvSpPr>
          <p:cNvPr id="3" name="Text 1"/>
          <p:cNvSpPr/>
          <p:nvPr/>
        </p:nvSpPr>
        <p:spPr>
          <a:xfrm>
            <a:off x="594360" y="320040"/>
            <a:ext cx="10789920" cy="274320"/>
          </a:xfrm>
          <a:prstGeom prst="rect">
            <a:avLst/>
          </a:prstGeom>
          <a:noFill/>
          <a:ln/>
        </p:spPr>
        <p:txBody>
          <a:bodyPr wrap="square" rtlCol="0" anchor="ctr"/>
          <a:lstStyle/>
          <a:p>
            <a:pPr indent="0" marL="0">
              <a:buNone/>
            </a:pPr>
            <a:r>
              <a:rPr lang="en-US" sz="1100" spc="200" kern="0" dirty="0">
                <a:solidFill>
                  <a:srgbClr val="A4CBBB"/>
                </a:solidFill>
              </a:rPr>
              <a:t>COGNIGRAPH / STUDY NOTES</a:t>
            </a:r>
            <a:endParaRPr lang="en-US" sz="1100" dirty="0"/>
          </a:p>
        </p:txBody>
      </p:sp>
      <p:sp>
        <p:nvSpPr>
          <p:cNvPr id="4" name="Text 2"/>
          <p:cNvSpPr/>
          <p:nvPr/>
        </p:nvSpPr>
        <p:spPr>
          <a:xfrm>
            <a:off x="594360" y="868680"/>
            <a:ext cx="10789920" cy="914400"/>
          </a:xfrm>
          <a:prstGeom prst="rect">
            <a:avLst/>
          </a:prstGeom>
          <a:noFill/>
          <a:ln/>
        </p:spPr>
        <p:txBody>
          <a:bodyPr wrap="square" lIns="0" tIns="0" rIns="0" bIns="0" rtlCol="0" anchor="ctr">
            <a:normAutofit/>
          </a:bodyPr>
          <a:lstStyle/>
          <a:p>
            <a:pPr indent="0" marL="0">
              <a:buNone/>
            </a:pPr>
            <a:r>
              <a:rPr lang="en-US" sz="3000" b="1" dirty="0">
                <a:solidFill>
                  <a:srgbClr val="FFFFFF"/>
                </a:solidFill>
              </a:rPr>
              <a:t>Introduction to GPUs and Digital Logic</a:t>
            </a:r>
            <a:endParaRPr lang="en-US" sz="3000" dirty="0"/>
          </a:p>
        </p:txBody>
      </p:sp>
      <p:sp>
        <p:nvSpPr>
          <p:cNvPr id="5" name="Text 3"/>
          <p:cNvSpPr/>
          <p:nvPr/>
        </p:nvSpPr>
        <p:spPr>
          <a:xfrm>
            <a:off x="777240" y="2011680"/>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FFFFFF"/>
                </a:solidFill>
              </a:rPr>
              <a:t>A GPU is a specialized processor built from digital logic circuits</a:t>
            </a:r>
            <a:endParaRPr lang="en-US" sz="2000" dirty="0"/>
          </a:p>
        </p:txBody>
      </p:sp>
      <p:sp>
        <p:nvSpPr>
          <p:cNvPr id="6" name="Text 4"/>
          <p:cNvSpPr/>
          <p:nvPr/>
        </p:nvSpPr>
        <p:spPr>
          <a:xfrm>
            <a:off x="777240" y="2706624"/>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FFFFFF"/>
                </a:solidFill>
              </a:rPr>
              <a:t>Digital logic uses gates (AND, OR, NOT) to process binary data</a:t>
            </a:r>
            <a:endParaRPr lang="en-US" sz="2000" dirty="0"/>
          </a:p>
        </p:txBody>
      </p:sp>
      <p:sp>
        <p:nvSpPr>
          <p:cNvPr id="7" name="Text 5"/>
          <p:cNvSpPr/>
          <p:nvPr/>
        </p:nvSpPr>
        <p:spPr>
          <a:xfrm>
            <a:off x="777240" y="3401568"/>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FFFFFF"/>
                </a:solidFill>
              </a:rPr>
              <a:t>GPUs contain thousands of cores, each implementing simple logic operations</a:t>
            </a:r>
            <a:endParaRPr lang="en-US" sz="2000" dirty="0"/>
          </a:p>
        </p:txBody>
      </p:sp>
      <p:sp>
        <p:nvSpPr>
          <p:cNvPr id="8" name="Text 6"/>
          <p:cNvSpPr/>
          <p:nvPr/>
        </p:nvSpPr>
        <p:spPr>
          <a:xfrm>
            <a:off x="777240" y="4096512"/>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FFFFFF"/>
                </a:solidFill>
              </a:rPr>
              <a:t>Prerequisites: Boolean algebra, combinational and sequential circuits</a:t>
            </a:r>
            <a:endParaRPr lang="en-US" sz="2000" dirty="0"/>
          </a:p>
        </p:txBody>
      </p:sp>
      <p:sp>
        <p:nvSpPr>
          <p:cNvPr id="9" name="Text 7"/>
          <p:cNvSpPr/>
          <p:nvPr/>
        </p:nvSpPr>
        <p:spPr>
          <a:xfrm>
            <a:off x="777240" y="4791456"/>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FFFFFF"/>
                </a:solidFill>
              </a:rPr>
              <a:t>Recap: GPUs leverage digital logic to perform massively parallel computations</a:t>
            </a:r>
            <a:endParaRPr lang="en-US" sz="2000" dirty="0"/>
          </a:p>
        </p:txBody>
      </p:sp>
      <p:sp>
        <p:nvSpPr>
          <p:cNvPr id="10" name="Text 8"/>
          <p:cNvSpPr/>
          <p:nvPr/>
        </p:nvSpPr>
        <p:spPr>
          <a:xfrm>
            <a:off x="594360" y="6428232"/>
            <a:ext cx="9692640" cy="182880"/>
          </a:xfrm>
          <a:prstGeom prst="rect">
            <a:avLst/>
          </a:prstGeom>
          <a:noFill/>
          <a:ln/>
        </p:spPr>
        <p:txBody>
          <a:bodyPr wrap="square" rtlCol="0" anchor="ctr"/>
          <a:lstStyle/>
          <a:p>
            <a:pPr indent="0" marL="0">
              <a:buNone/>
            </a:pPr>
            <a:r>
              <a:rPr lang="en-US" sz="900" dirty="0">
                <a:solidFill>
                  <a:srgbClr val="A4CBBB"/>
                </a:solidFill>
              </a:rPr>
              <a:t>AI-generated study aid · Verify against your syllabus</a:t>
            </a:r>
            <a:endParaRPr lang="en-US" sz="900" dirty="0"/>
          </a:p>
        </p:txBody>
      </p:sp>
      <p:sp>
        <p:nvSpPr>
          <p:cNvPr id="11" name="Text 9"/>
          <p:cNvSpPr/>
          <p:nvPr/>
        </p:nvSpPr>
        <p:spPr>
          <a:xfrm>
            <a:off x="10607040" y="6400800"/>
            <a:ext cx="914400" cy="228600"/>
          </a:xfrm>
          <a:prstGeom prst="rect">
            <a:avLst/>
          </a:prstGeom>
          <a:noFill/>
          <a:ln/>
        </p:spPr>
        <p:txBody>
          <a:bodyPr wrap="square" rtlCol="0" anchor="ctr"/>
          <a:lstStyle/>
          <a:p>
            <a:pPr algn="r" indent="0" marL="0">
              <a:buNone/>
            </a:pPr>
            <a:r>
              <a:rPr lang="en-US" sz="1000" dirty="0">
                <a:solidFill>
                  <a:srgbClr val="A4CBBB"/>
                </a:solidFill>
              </a:rPr>
              <a:t>1 / 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07B39"/>
          </a:solidFill>
          <a:ln w="12700">
            <a:solidFill>
              <a:srgbClr val="E07B39"/>
            </a:solidFill>
            <a:prstDash val="solid"/>
          </a:ln>
        </p:spPr>
      </p:sp>
      <p:sp>
        <p:nvSpPr>
          <p:cNvPr id="3" name="Text 1"/>
          <p:cNvSpPr/>
          <p:nvPr/>
        </p:nvSpPr>
        <p:spPr>
          <a:xfrm>
            <a:off x="594360" y="320040"/>
            <a:ext cx="10789920" cy="274320"/>
          </a:xfrm>
          <a:prstGeom prst="rect">
            <a:avLst/>
          </a:prstGeom>
          <a:noFill/>
          <a:ln/>
        </p:spPr>
        <p:txBody>
          <a:bodyPr wrap="square" rtlCol="0" anchor="ctr"/>
          <a:lstStyle/>
          <a:p>
            <a:pPr indent="0" marL="0">
              <a:buNone/>
            </a:pPr>
            <a:r>
              <a:rPr lang="en-US" sz="1100" spc="200" kern="0" dirty="0">
                <a:solidFill>
                  <a:srgbClr val="49746B"/>
                </a:solidFill>
              </a:rPr>
              <a:t>COGNIGRAPH / STUDY NOTES</a:t>
            </a:r>
            <a:endParaRPr lang="en-US" sz="1100" dirty="0"/>
          </a:p>
        </p:txBody>
      </p:sp>
      <p:sp>
        <p:nvSpPr>
          <p:cNvPr id="4" name="Text 2"/>
          <p:cNvSpPr/>
          <p:nvPr/>
        </p:nvSpPr>
        <p:spPr>
          <a:xfrm>
            <a:off x="594360" y="868680"/>
            <a:ext cx="10789920" cy="914400"/>
          </a:xfrm>
          <a:prstGeom prst="rect">
            <a:avLst/>
          </a:prstGeom>
          <a:noFill/>
          <a:ln/>
        </p:spPr>
        <p:txBody>
          <a:bodyPr wrap="square" lIns="0" tIns="0" rIns="0" bIns="0" rtlCol="0" anchor="ctr">
            <a:normAutofit/>
          </a:bodyPr>
          <a:lstStyle/>
          <a:p>
            <a:pPr indent="0" marL="0">
              <a:buNone/>
            </a:pPr>
            <a:r>
              <a:rPr lang="en-US" sz="3000" b="1" dirty="0">
                <a:solidFill>
                  <a:srgbClr val="152623"/>
                </a:solidFill>
              </a:rPr>
              <a:t>GPU Architecture and Parallel Processing</a:t>
            </a:r>
            <a:endParaRPr lang="en-US" sz="3000" dirty="0"/>
          </a:p>
        </p:txBody>
      </p:sp>
      <p:sp>
        <p:nvSpPr>
          <p:cNvPr id="5" name="Text 3"/>
          <p:cNvSpPr/>
          <p:nvPr/>
        </p:nvSpPr>
        <p:spPr>
          <a:xfrm>
            <a:off x="777240" y="2011680"/>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GPUs have thousands of lightweight cores compared to CPUs' few heavy cores</a:t>
            </a:r>
            <a:endParaRPr lang="en-US" sz="2000" dirty="0"/>
          </a:p>
        </p:txBody>
      </p:sp>
      <p:sp>
        <p:nvSpPr>
          <p:cNvPr id="6" name="Text 4"/>
          <p:cNvSpPr/>
          <p:nvPr/>
        </p:nvSpPr>
        <p:spPr>
          <a:xfrm>
            <a:off x="777240" y="2706624"/>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Each core executes the same instruction on different data (SIMD model)</a:t>
            </a:r>
            <a:endParaRPr lang="en-US" sz="2000" dirty="0"/>
          </a:p>
        </p:txBody>
      </p:sp>
      <p:sp>
        <p:nvSpPr>
          <p:cNvPr id="7" name="Text 5"/>
          <p:cNvSpPr/>
          <p:nvPr/>
        </p:nvSpPr>
        <p:spPr>
          <a:xfrm>
            <a:off x="777240" y="3401568"/>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Memory hierarchy includes global, shared, and register memory</a:t>
            </a:r>
            <a:endParaRPr lang="en-US" sz="2000" dirty="0"/>
          </a:p>
        </p:txBody>
      </p:sp>
      <p:sp>
        <p:nvSpPr>
          <p:cNvPr id="8" name="Text 6"/>
          <p:cNvSpPr/>
          <p:nvPr/>
        </p:nvSpPr>
        <p:spPr>
          <a:xfrm>
            <a:off x="777240" y="4096512"/>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Logic gates form ALUs that perform arithmetic in each core</a:t>
            </a:r>
            <a:endParaRPr lang="en-US" sz="2000" dirty="0"/>
          </a:p>
        </p:txBody>
      </p:sp>
      <p:sp>
        <p:nvSpPr>
          <p:cNvPr id="9" name="Text 7"/>
          <p:cNvSpPr/>
          <p:nvPr/>
        </p:nvSpPr>
        <p:spPr>
          <a:xfrm>
            <a:off x="777240" y="4791456"/>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Digital circuits enable coordination between cores via control units</a:t>
            </a:r>
            <a:endParaRPr lang="en-US" sz="2000" dirty="0"/>
          </a:p>
        </p:txBody>
      </p:sp>
      <p:sp>
        <p:nvSpPr>
          <p:cNvPr id="10" name="Text 8"/>
          <p:cNvSpPr/>
          <p:nvPr/>
        </p:nvSpPr>
        <p:spPr>
          <a:xfrm>
            <a:off x="594360" y="6428232"/>
            <a:ext cx="9692640" cy="182880"/>
          </a:xfrm>
          <a:prstGeom prst="rect">
            <a:avLst/>
          </a:prstGeom>
          <a:noFill/>
          <a:ln/>
        </p:spPr>
        <p:txBody>
          <a:bodyPr wrap="square" rtlCol="0" anchor="ctr"/>
          <a:lstStyle/>
          <a:p>
            <a:pPr indent="0" marL="0">
              <a:buNone/>
            </a:pPr>
            <a:r>
              <a:rPr lang="en-US" sz="900" dirty="0">
                <a:solidFill>
                  <a:srgbClr val="667773"/>
                </a:solidFill>
              </a:rPr>
              <a:t>AI-generated study aid · Verify against your syllabus</a:t>
            </a:r>
            <a:endParaRPr lang="en-US" sz="900" dirty="0"/>
          </a:p>
        </p:txBody>
      </p:sp>
      <p:sp>
        <p:nvSpPr>
          <p:cNvPr id="11" name="Text 9"/>
          <p:cNvSpPr/>
          <p:nvPr/>
        </p:nvSpPr>
        <p:spPr>
          <a:xfrm>
            <a:off x="10607040" y="6400800"/>
            <a:ext cx="914400" cy="228600"/>
          </a:xfrm>
          <a:prstGeom prst="rect">
            <a:avLst/>
          </a:prstGeom>
          <a:noFill/>
          <a:ln/>
        </p:spPr>
        <p:txBody>
          <a:bodyPr wrap="square" rtlCol="0" anchor="ctr"/>
          <a:lstStyle/>
          <a:p>
            <a:pPr algn="r" indent="0" marL="0">
              <a:buNone/>
            </a:pPr>
            <a:r>
              <a:rPr lang="en-US" sz="1000" dirty="0">
                <a:solidFill>
                  <a:srgbClr val="667773"/>
                </a:solidFill>
              </a:rPr>
              <a:t>2 / 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07B39"/>
          </a:solidFill>
          <a:ln w="12700">
            <a:solidFill>
              <a:srgbClr val="E07B39"/>
            </a:solidFill>
            <a:prstDash val="solid"/>
          </a:ln>
        </p:spPr>
      </p:sp>
      <p:sp>
        <p:nvSpPr>
          <p:cNvPr id="3" name="Text 1"/>
          <p:cNvSpPr/>
          <p:nvPr/>
        </p:nvSpPr>
        <p:spPr>
          <a:xfrm>
            <a:off x="594360" y="320040"/>
            <a:ext cx="10789920" cy="274320"/>
          </a:xfrm>
          <a:prstGeom prst="rect">
            <a:avLst/>
          </a:prstGeom>
          <a:noFill/>
          <a:ln/>
        </p:spPr>
        <p:txBody>
          <a:bodyPr wrap="square" rtlCol="0" anchor="ctr"/>
          <a:lstStyle/>
          <a:p>
            <a:pPr indent="0" marL="0">
              <a:buNone/>
            </a:pPr>
            <a:r>
              <a:rPr lang="en-US" sz="1100" spc="200" kern="0" dirty="0">
                <a:solidFill>
                  <a:srgbClr val="49746B"/>
                </a:solidFill>
              </a:rPr>
              <a:t>COGNIGRAPH / STUDY NOTES</a:t>
            </a:r>
            <a:endParaRPr lang="en-US" sz="1100" dirty="0"/>
          </a:p>
        </p:txBody>
      </p:sp>
      <p:sp>
        <p:nvSpPr>
          <p:cNvPr id="4" name="Text 2"/>
          <p:cNvSpPr/>
          <p:nvPr/>
        </p:nvSpPr>
        <p:spPr>
          <a:xfrm>
            <a:off x="594360" y="868680"/>
            <a:ext cx="10789920" cy="914400"/>
          </a:xfrm>
          <a:prstGeom prst="rect">
            <a:avLst/>
          </a:prstGeom>
          <a:noFill/>
          <a:ln/>
        </p:spPr>
        <p:txBody>
          <a:bodyPr wrap="square" lIns="0" tIns="0" rIns="0" bIns="0" rtlCol="0" anchor="ctr">
            <a:normAutofit/>
          </a:bodyPr>
          <a:lstStyle/>
          <a:p>
            <a:pPr indent="0" marL="0">
              <a:buNone/>
            </a:pPr>
            <a:r>
              <a:rPr lang="en-US" sz="3000" b="1" dirty="0">
                <a:solidFill>
                  <a:srgbClr val="152623"/>
                </a:solidFill>
              </a:rPr>
              <a:t>Digital Logic Building Blocks in GPUs</a:t>
            </a:r>
            <a:endParaRPr lang="en-US" sz="3000" dirty="0"/>
          </a:p>
        </p:txBody>
      </p:sp>
      <p:sp>
        <p:nvSpPr>
          <p:cNvPr id="5" name="Text 3"/>
          <p:cNvSpPr/>
          <p:nvPr/>
        </p:nvSpPr>
        <p:spPr>
          <a:xfrm>
            <a:off x="777240" y="2011680"/>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ALUs use combinational circuits like adders and multiplexers</a:t>
            </a:r>
            <a:endParaRPr lang="en-US" sz="2000" dirty="0"/>
          </a:p>
        </p:txBody>
      </p:sp>
      <p:sp>
        <p:nvSpPr>
          <p:cNvPr id="6" name="Text 4"/>
          <p:cNvSpPr/>
          <p:nvPr/>
        </p:nvSpPr>
        <p:spPr>
          <a:xfrm>
            <a:off x="777240" y="2706624"/>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Registers store intermediate results using flip-flops</a:t>
            </a:r>
            <a:endParaRPr lang="en-US" sz="2000" dirty="0"/>
          </a:p>
        </p:txBody>
      </p:sp>
      <p:sp>
        <p:nvSpPr>
          <p:cNvPr id="7" name="Text 5"/>
          <p:cNvSpPr/>
          <p:nvPr/>
        </p:nvSpPr>
        <p:spPr>
          <a:xfrm>
            <a:off x="777240" y="3401568"/>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Clock signals synchronize operations across all cores</a:t>
            </a:r>
            <a:endParaRPr lang="en-US" sz="2000" dirty="0"/>
          </a:p>
        </p:txBody>
      </p:sp>
      <p:sp>
        <p:nvSpPr>
          <p:cNvPr id="8" name="Text 6"/>
          <p:cNvSpPr/>
          <p:nvPr/>
        </p:nvSpPr>
        <p:spPr>
          <a:xfrm>
            <a:off x="777240" y="4096512"/>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Control units use finite state machines implemented with logic gates</a:t>
            </a:r>
            <a:endParaRPr lang="en-US" sz="2000" dirty="0"/>
          </a:p>
        </p:txBody>
      </p:sp>
      <p:sp>
        <p:nvSpPr>
          <p:cNvPr id="9" name="Text 7"/>
          <p:cNvSpPr/>
          <p:nvPr/>
        </p:nvSpPr>
        <p:spPr>
          <a:xfrm>
            <a:off x="777240" y="4791456"/>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Thousands of these circuits combine to form a complete GPU core</a:t>
            </a:r>
            <a:endParaRPr lang="en-US" sz="2000" dirty="0"/>
          </a:p>
        </p:txBody>
      </p:sp>
      <p:sp>
        <p:nvSpPr>
          <p:cNvPr id="10" name="Text 8"/>
          <p:cNvSpPr/>
          <p:nvPr/>
        </p:nvSpPr>
        <p:spPr>
          <a:xfrm>
            <a:off x="594360" y="6428232"/>
            <a:ext cx="9692640" cy="182880"/>
          </a:xfrm>
          <a:prstGeom prst="rect">
            <a:avLst/>
          </a:prstGeom>
          <a:noFill/>
          <a:ln/>
        </p:spPr>
        <p:txBody>
          <a:bodyPr wrap="square" rtlCol="0" anchor="ctr"/>
          <a:lstStyle/>
          <a:p>
            <a:pPr indent="0" marL="0">
              <a:buNone/>
            </a:pPr>
            <a:r>
              <a:rPr lang="en-US" sz="900" dirty="0">
                <a:solidFill>
                  <a:srgbClr val="667773"/>
                </a:solidFill>
              </a:rPr>
              <a:t>AI-generated study aid · Verify against your syllabus</a:t>
            </a:r>
            <a:endParaRPr lang="en-US" sz="900" dirty="0"/>
          </a:p>
        </p:txBody>
      </p:sp>
      <p:sp>
        <p:nvSpPr>
          <p:cNvPr id="11" name="Text 9"/>
          <p:cNvSpPr/>
          <p:nvPr/>
        </p:nvSpPr>
        <p:spPr>
          <a:xfrm>
            <a:off x="10607040" y="6400800"/>
            <a:ext cx="914400" cy="228600"/>
          </a:xfrm>
          <a:prstGeom prst="rect">
            <a:avLst/>
          </a:prstGeom>
          <a:noFill/>
          <a:ln/>
        </p:spPr>
        <p:txBody>
          <a:bodyPr wrap="square" rtlCol="0" anchor="ctr"/>
          <a:lstStyle/>
          <a:p>
            <a:pPr algn="r" indent="0" marL="0">
              <a:buNone/>
            </a:pPr>
            <a:r>
              <a:rPr lang="en-US" sz="1000" dirty="0">
                <a:solidFill>
                  <a:srgbClr val="667773"/>
                </a:solidFill>
              </a:rPr>
              <a:t>3 /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07B39"/>
          </a:solidFill>
          <a:ln w="12700">
            <a:solidFill>
              <a:srgbClr val="E07B39"/>
            </a:solidFill>
            <a:prstDash val="solid"/>
          </a:ln>
        </p:spPr>
      </p:sp>
      <p:sp>
        <p:nvSpPr>
          <p:cNvPr id="3" name="Text 1"/>
          <p:cNvSpPr/>
          <p:nvPr/>
        </p:nvSpPr>
        <p:spPr>
          <a:xfrm>
            <a:off x="594360" y="320040"/>
            <a:ext cx="10789920" cy="274320"/>
          </a:xfrm>
          <a:prstGeom prst="rect">
            <a:avLst/>
          </a:prstGeom>
          <a:noFill/>
          <a:ln/>
        </p:spPr>
        <p:txBody>
          <a:bodyPr wrap="square" rtlCol="0" anchor="ctr"/>
          <a:lstStyle/>
          <a:p>
            <a:pPr indent="0" marL="0">
              <a:buNone/>
            </a:pPr>
            <a:r>
              <a:rPr lang="en-US" sz="1100" spc="200" kern="0" dirty="0">
                <a:solidFill>
                  <a:srgbClr val="49746B"/>
                </a:solidFill>
              </a:rPr>
              <a:t>COGNIGRAPH / STUDY NOTES</a:t>
            </a:r>
            <a:endParaRPr lang="en-US" sz="1100" dirty="0"/>
          </a:p>
        </p:txBody>
      </p:sp>
      <p:sp>
        <p:nvSpPr>
          <p:cNvPr id="4" name="Text 2"/>
          <p:cNvSpPr/>
          <p:nvPr/>
        </p:nvSpPr>
        <p:spPr>
          <a:xfrm>
            <a:off x="594360" y="868680"/>
            <a:ext cx="10789920" cy="914400"/>
          </a:xfrm>
          <a:prstGeom prst="rect">
            <a:avLst/>
          </a:prstGeom>
          <a:noFill/>
          <a:ln/>
        </p:spPr>
        <p:txBody>
          <a:bodyPr wrap="square" lIns="0" tIns="0" rIns="0" bIns="0" rtlCol="0" anchor="ctr">
            <a:normAutofit/>
          </a:bodyPr>
          <a:lstStyle/>
          <a:p>
            <a:pPr indent="0" marL="0">
              <a:buNone/>
            </a:pPr>
            <a:r>
              <a:rPr lang="en-US" sz="3000" b="1" dirty="0">
                <a:solidFill>
                  <a:srgbClr val="152623"/>
                </a:solidFill>
              </a:rPr>
              <a:t>Recap and Applications</a:t>
            </a:r>
            <a:endParaRPr lang="en-US" sz="3000" dirty="0"/>
          </a:p>
        </p:txBody>
      </p:sp>
      <p:sp>
        <p:nvSpPr>
          <p:cNvPr id="5" name="Text 3"/>
          <p:cNvSpPr/>
          <p:nvPr/>
        </p:nvSpPr>
        <p:spPr>
          <a:xfrm>
            <a:off x="777240" y="2011680"/>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GPUs are built from digital logic circuits scaling basic gates to thousands of cores</a:t>
            </a:r>
            <a:endParaRPr lang="en-US" sz="2000" dirty="0"/>
          </a:p>
        </p:txBody>
      </p:sp>
      <p:sp>
        <p:nvSpPr>
          <p:cNvPr id="6" name="Text 4"/>
          <p:cNvSpPr/>
          <p:nvPr/>
        </p:nvSpPr>
        <p:spPr>
          <a:xfrm>
            <a:off x="777240" y="2706624"/>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Parallel processing exploits SIMD architecture for high throughput</a:t>
            </a:r>
            <a:endParaRPr lang="en-US" sz="2000" dirty="0"/>
          </a:p>
        </p:txBody>
      </p:sp>
      <p:sp>
        <p:nvSpPr>
          <p:cNvPr id="7" name="Text 5"/>
          <p:cNvSpPr/>
          <p:nvPr/>
        </p:nvSpPr>
        <p:spPr>
          <a:xfrm>
            <a:off x="777240" y="3401568"/>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Memory hierarchy and control circuits coordinate complex operations</a:t>
            </a:r>
            <a:endParaRPr lang="en-US" sz="2000" dirty="0"/>
          </a:p>
        </p:txBody>
      </p:sp>
      <p:sp>
        <p:nvSpPr>
          <p:cNvPr id="8" name="Text 6"/>
          <p:cNvSpPr/>
          <p:nvPr/>
        </p:nvSpPr>
        <p:spPr>
          <a:xfrm>
            <a:off x="777240" y="4096512"/>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Digital logic concepts directly apply to modern GPU design and optimization</a:t>
            </a:r>
            <a:endParaRPr lang="en-US" sz="2000" dirty="0"/>
          </a:p>
        </p:txBody>
      </p:sp>
      <p:sp>
        <p:nvSpPr>
          <p:cNvPr id="9" name="Text 7"/>
          <p:cNvSpPr/>
          <p:nvPr/>
        </p:nvSpPr>
        <p:spPr>
          <a:xfrm>
            <a:off x="777240" y="4791456"/>
            <a:ext cx="10424160" cy="594360"/>
          </a:xfrm>
          <a:prstGeom prst="rect">
            <a:avLst/>
          </a:prstGeom>
          <a:noFill/>
          <a:ln/>
        </p:spPr>
        <p:txBody>
          <a:bodyPr wrap="square" lIns="508" tIns="508" rIns="508" bIns="508" rtlCol="0" anchor="ctr">
            <a:normAutofit/>
          </a:bodyPr>
          <a:lstStyle/>
          <a:p>
            <a:pPr marL="228600" indent="-228600">
              <a:buSzPct val="100000"/>
              <a:buChar char="•"/>
            </a:pPr>
            <a:r>
              <a:rPr lang="en-US" sz="2000" dirty="0">
                <a:solidFill>
                  <a:srgbClr val="152623"/>
                </a:solidFill>
              </a:rPr>
              <a:t>Applications include graphics rendering, machine learning, and scientific computing</a:t>
            </a:r>
            <a:endParaRPr lang="en-US" sz="2000" dirty="0"/>
          </a:p>
        </p:txBody>
      </p:sp>
      <p:sp>
        <p:nvSpPr>
          <p:cNvPr id="10" name="Text 8"/>
          <p:cNvSpPr/>
          <p:nvPr/>
        </p:nvSpPr>
        <p:spPr>
          <a:xfrm>
            <a:off x="594360" y="6428232"/>
            <a:ext cx="9692640" cy="182880"/>
          </a:xfrm>
          <a:prstGeom prst="rect">
            <a:avLst/>
          </a:prstGeom>
          <a:noFill/>
          <a:ln/>
        </p:spPr>
        <p:txBody>
          <a:bodyPr wrap="square" rtlCol="0" anchor="ctr"/>
          <a:lstStyle/>
          <a:p>
            <a:pPr indent="0" marL="0">
              <a:buNone/>
            </a:pPr>
            <a:r>
              <a:rPr lang="en-US" sz="900" dirty="0">
                <a:solidFill>
                  <a:srgbClr val="667773"/>
                </a:solidFill>
              </a:rPr>
              <a:t>AI-generated study aid · Verify against your syllabus</a:t>
            </a:r>
            <a:endParaRPr lang="en-US" sz="900" dirty="0"/>
          </a:p>
        </p:txBody>
      </p:sp>
      <p:sp>
        <p:nvSpPr>
          <p:cNvPr id="11" name="Text 9"/>
          <p:cNvSpPr/>
          <p:nvPr/>
        </p:nvSpPr>
        <p:spPr>
          <a:xfrm>
            <a:off x="10607040" y="6400800"/>
            <a:ext cx="914400" cy="228600"/>
          </a:xfrm>
          <a:prstGeom prst="rect">
            <a:avLst/>
          </a:prstGeom>
          <a:noFill/>
          <a:ln/>
        </p:spPr>
        <p:txBody>
          <a:bodyPr wrap="square" rtlCol="0" anchor="ctr"/>
          <a:lstStyle/>
          <a:p>
            <a:pPr algn="r" indent="0" marL="0">
              <a:buNone/>
            </a:pPr>
            <a:r>
              <a:rPr lang="en-US" sz="1000" dirty="0">
                <a:solidFill>
                  <a:srgbClr val="667773"/>
                </a:solidFill>
              </a:rPr>
              <a:t>4 / 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GPUs and Digital Logic: From Gates to Graphics</dc:title>
  <dc:subject>Personalized study presentation</dc:subject>
  <dc:creator>CogniGraph</dc:creator>
  <cp:lastModifiedBy>CogniGraph</cp:lastModifiedBy>
  <cp:revision>1</cp:revision>
  <dcterms:created xsi:type="dcterms:W3CDTF">2026-10-27T05:58:49Z</dcterms:created>
  <dcterms:modified xsi:type="dcterms:W3CDTF">2026-10-27T05:58:49Z</dcterms:modified>
</cp:coreProperties>
</file>